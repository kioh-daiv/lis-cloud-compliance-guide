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臨床検査部門システム（LIS）クラウド化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DD3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法規制対応と技術要件ガイド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0" y="2286000"/>
            <a:ext cx="4572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社内勉強会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2651760" cy="347472"/>
          </a:xfrm>
          <a:prstGeom prst="roundRect">
            <a:avLst>
              <a:gd name="adj" fmla="val 13158"/>
            </a:avLst>
          </a:prstGeom>
          <a:solidFill>
            <a:srgbClr val="1E3A5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17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臨床検査（生化学・血液等）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3017520"/>
            <a:ext cx="2651760" cy="347472"/>
          </a:xfrm>
          <a:prstGeom prst="roundRect">
            <a:avLst>
              <a:gd name="adj" fmla="val 13158"/>
            </a:avLst>
          </a:prstGeom>
          <a:solidFill>
            <a:srgbClr val="1E3A5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017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細菌・微生物検査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3017520"/>
            <a:ext cx="2651760" cy="347472"/>
          </a:xfrm>
          <a:prstGeom prst="roundRect">
            <a:avLst>
              <a:gd name="adj" fmla="val 13158"/>
            </a:avLst>
          </a:prstGeom>
          <a:solidFill>
            <a:srgbClr val="1E3A5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017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病理・細胞診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9A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技術スタックは AWS 主軸＋クラウド非依存の原則で記述　|　2026年5月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法規制対応ガイド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本日のカバー範囲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84124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188720"/>
            <a:ext cx="548640" cy="594360"/>
          </a:xfrm>
          <a:prstGeom prst="roundRect">
            <a:avLst>
              <a:gd name="adj" fmla="val 8333"/>
            </a:avLst>
          </a:prstGeom>
          <a:solidFill>
            <a:srgbClr val="0E4D9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1887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22529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ガイドの構造と網羅性の根拠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149047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5段分解フレームワーク・データライフサイクル×法体系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84124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920240"/>
            <a:ext cx="548640" cy="594360"/>
          </a:xfrm>
          <a:prstGeom prst="roundRect">
            <a:avLst>
              <a:gd name="adj" fmla="val 8333"/>
            </a:avLst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9202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195681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必須の法規制（10項目）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22199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個情法・クラウド例外・サイバーセキュリティ・検体検査精度等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651760"/>
            <a:ext cx="84124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651760"/>
            <a:ext cx="548640" cy="594360"/>
          </a:xfrm>
          <a:prstGeom prst="roundRect">
            <a:avLst>
              <a:gd name="adj" fmla="val 8333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6517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268833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推奨する対応（7項目）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295351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ISMS・Pマーク・ISMAP・標準規格（FHIR/JLAC11）等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383280"/>
            <a:ext cx="84124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383280"/>
            <a:ext cx="548640" cy="594360"/>
          </a:xfrm>
          <a:prstGeom prst="roundRect">
            <a:avLst>
              <a:gd name="adj" fmla="val 8333"/>
            </a:avLst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38328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41985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要件×AWSスタック対応表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68503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21要件カテゴリの原則・AWS実現例・残リスク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114800"/>
            <a:ext cx="84124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114800"/>
            <a:ext cx="548640" cy="594360"/>
          </a:xfrm>
          <a:prstGeom prst="roundRect">
            <a:avLst>
              <a:gd name="adj" fmla="val 8333"/>
            </a:avLst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11480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415137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トレーサビリティ表 ＆ AWS構成図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441655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条項→要件→技術→残リスク一覧 / リファレンスアーキテクチャ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法規制対応ガイド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ガイドの構造 — 5段で分解する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各法規制をこのフレームワークで読み解く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463040" cy="18288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87552" y="1280160"/>
            <a:ext cx="402336" cy="4023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7830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該当条項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根拠となる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法令・省令・通知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20240" y="1920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48840" y="1371600"/>
            <a:ext cx="1463040" cy="18288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79192" y="1280160"/>
            <a:ext cx="402336" cy="40233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267919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48840" y="17830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満たすべき要件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48840" y="2240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条項から導出する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具体的な義務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11880" y="1920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840480" y="1371600"/>
            <a:ext cx="1463040" cy="18288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FF990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70832" y="1280160"/>
            <a:ext cx="402336" cy="40233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3" name="Text 21"/>
          <p:cNvSpPr/>
          <p:nvPr/>
        </p:nvSpPr>
        <p:spPr>
          <a:xfrm>
            <a:off x="43708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17830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技術スタック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2240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原則＋AWS実現例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クラウド非依存で記述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03520" y="1920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532120" y="1371600"/>
            <a:ext cx="1463040" cy="18288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62472" y="12801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606247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32120" y="17830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なぜ担保できるか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32120" y="2240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技術的根拠の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論理的説明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995160" y="1920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23760" y="1371600"/>
            <a:ext cx="1463040" cy="18288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754112" y="1280160"/>
            <a:ext cx="402336" cy="40233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5" name="Text 33"/>
          <p:cNvSpPr/>
          <p:nvPr/>
        </p:nvSpPr>
        <p:spPr>
          <a:xfrm>
            <a:off x="775411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23760" y="17830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残リスク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23760" y="2240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技術・運用・契約・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受容 の4分類で明示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338328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バッジの意味：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7947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794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34440" y="3794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法令・省令で課される義務または委託先選定の前提条件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0" y="37947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0" y="3794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実質必須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977640" y="3794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法的推奨だが調達では事実上の前提（ISMS・Pマーク等）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943600" y="37947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0" y="3794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720840" y="3794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信頼性・相互運用性・調達競争力を左右する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48640" y="4160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残リスクの引き取り先：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560320" y="4178808"/>
            <a:ext cx="640080" cy="237744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60320" y="417880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114800" y="4178808"/>
            <a:ext cx="640080" cy="237744"/>
          </a:xfrm>
          <a:prstGeom prst="roundRect">
            <a:avLst>
              <a:gd name="adj" fmla="val 11538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0" y="417880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669280" y="4178808"/>
            <a:ext cx="640080" cy="237744"/>
          </a:xfrm>
          <a:prstGeom prst="roundRect">
            <a:avLst>
              <a:gd name="adj" fmla="val 11538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0" y="417880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223760" y="4178808"/>
            <a:ext cx="640080" cy="237744"/>
          </a:xfrm>
          <a:prstGeom prst="roundRect">
            <a:avLst>
              <a:gd name="adj" fmla="val 11538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23760" y="417880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受容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778240" y="4178808"/>
            <a:ext cx="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残リスクの種別タグ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法規制対応ガイド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網羅性の根拠 — なぜ「これで足りる」と言えるか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2軸で機械的に洗い出す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143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軸1：データライフサイクル × 関係法規制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417320"/>
            <a:ext cx="36576" cy="13716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444752"/>
            <a:ext cx="1600200" cy="137160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44475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0E4D92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4447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176479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個情法（要配慮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取得同意）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2103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検体検査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精度確保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068830" y="1444752"/>
            <a:ext cx="1600200" cy="137160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68830" y="144475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0E4D92"/>
          </a:solidFill>
          <a:ln/>
        </p:spPr>
      </p:sp>
      <p:sp>
        <p:nvSpPr>
          <p:cNvPr id="18" name="Text 16"/>
          <p:cNvSpPr/>
          <p:nvPr/>
        </p:nvSpPr>
        <p:spPr>
          <a:xfrm>
            <a:off x="2068830" y="14447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14550" y="176479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電子保存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三原則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14550" y="2103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記録の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法定保存義務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14550" y="244144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- 3省2GL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真正性・保存性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771900" y="1444752"/>
            <a:ext cx="1600200" cy="137160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71900" y="144475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0E4D92"/>
          </a:solidFill>
          <a:ln/>
        </p:spPr>
      </p:sp>
      <p:sp>
        <p:nvSpPr>
          <p:cNvPr id="24" name="Text 22"/>
          <p:cNvSpPr/>
          <p:nvPr/>
        </p:nvSpPr>
        <p:spPr>
          <a:xfrm>
            <a:off x="3771900" y="14447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17620" y="176479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- 3省2GL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アクセス制御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17620" y="2103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薬機法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SaMD判定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74970" y="1444752"/>
            <a:ext cx="1600200" cy="137160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74970" y="144475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0E4D92"/>
          </a:solidFill>
          <a:ln/>
        </p:spPr>
      </p:sp>
      <p:sp>
        <p:nvSpPr>
          <p:cNvPr id="29" name="Text 27"/>
          <p:cNvSpPr/>
          <p:nvPr/>
        </p:nvSpPr>
        <p:spPr>
          <a:xfrm>
            <a:off x="5474970" y="14447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提供・連携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20690" y="176479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個情法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第三者提供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20690" y="2103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感染症法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届出連携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20690" y="244144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標準規格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FHIR/JLAC11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178040" y="1444752"/>
            <a:ext cx="1600200" cy="137160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78040" y="144475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0E4D92"/>
          </a:solidFill>
          <a:ln/>
        </p:spPr>
      </p:sp>
      <p:sp>
        <p:nvSpPr>
          <p:cNvPr id="35" name="Text 33"/>
          <p:cNvSpPr/>
          <p:nvPr/>
        </p:nvSpPr>
        <p:spPr>
          <a:xfrm>
            <a:off x="7178040" y="14447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廃棄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23760" y="176479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個情法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廃棄安全管理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223760" y="2103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保存期間後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確実な消去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5760" y="2907792"/>
            <a:ext cx="8412480" cy="256032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2907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338C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横断（全段階）：医療法施行規則14条2項（サイバーセキュリティ確保義務）／ 3省2GL 全般 ／ ISMS・Pマーク・ISMAP ／ 衛生検査所登録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5760" y="32278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軸2：法体系の階層（どの階層まで見たか）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3502152"/>
            <a:ext cx="1097280" cy="210312"/>
          </a:xfrm>
          <a:prstGeom prst="roundRect">
            <a:avLst>
              <a:gd name="adj" fmla="val 13043"/>
            </a:avLst>
          </a:prstGeom>
          <a:solidFill>
            <a:srgbClr val="0E4D92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3502152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法律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554480" y="3502152"/>
            <a:ext cx="7132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医療法／個情法／感染症法／臨検法／薬機法／次世代医療基盤法／e-文書法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5760" y="3749040"/>
            <a:ext cx="1097280" cy="210312"/>
          </a:xfrm>
          <a:prstGeom prst="roundRect">
            <a:avLst>
              <a:gd name="adj" fmla="val 13043"/>
            </a:avLst>
          </a:prstGeom>
          <a:solidFill>
            <a:srgbClr val="1E6BC7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3749040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政省令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554480" y="3749040"/>
            <a:ext cx="7132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各施行規則／平成30年厚労省令第93号／個情法施行規則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3995928"/>
            <a:ext cx="1097280" cy="210312"/>
          </a:xfrm>
          <a:prstGeom prst="roundRect">
            <a:avLst>
              <a:gd name="adj" fmla="val 13043"/>
            </a:avLst>
          </a:prstGeom>
          <a:solidFill>
            <a:srgbClr val="2F81D6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3995928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告示・通知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554480" y="3995928"/>
            <a:ext cx="7132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産情発0310第2号／医政発0329003号／薬生機審発0331第1号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65760" y="4242816"/>
            <a:ext cx="1097280" cy="210312"/>
          </a:xfrm>
          <a:prstGeom prst="roundRect">
            <a:avLst>
              <a:gd name="adj" fmla="val 13043"/>
            </a:avLst>
          </a:prstGeom>
          <a:solidFill>
            <a:srgbClr val="3F9AE0"/>
          </a:solidFill>
          <a:ln/>
        </p:spPr>
      </p:sp>
      <p:sp>
        <p:nvSpPr>
          <p:cNvPr id="51" name="Text 49"/>
          <p:cNvSpPr/>
          <p:nvPr/>
        </p:nvSpPr>
        <p:spPr>
          <a:xfrm>
            <a:off x="365760" y="4242816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ガイドライン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554480" y="4242816"/>
            <a:ext cx="7132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3省2GL（厚労省第6.0版／事業者向け第2.0版）／SaMD該当性GL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65760" y="4489704"/>
            <a:ext cx="1097280" cy="210312"/>
          </a:xfrm>
          <a:prstGeom prst="roundRect">
            <a:avLst>
              <a:gd name="adj" fmla="val 13043"/>
            </a:avLst>
          </a:prstGeom>
          <a:solidFill>
            <a:srgbClr val="56B2E8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4489704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認証・業界基準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554480" y="4489704"/>
            <a:ext cx="7132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ISMS・Pマーク・ISMAP／JAHIS MDS/SDS／学会の標本保存基準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法規制対応ガイド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スコープ宣言 — 対象と対象外を明確に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「漏れ」と「意図的除外」を区別する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対象に含む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645920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1600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検査・細菌（微生物）・病理（病理診断・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細胞診）の LIS のクラウド化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331720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分析装置・電子カルテとの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連携インターフェース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971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SaMD の該当性判定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（載せる機能の範囲確認）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703320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クラウド例外の成否判定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（第三者提供・委託の区別）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14300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 対象外（意図的に除外）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00600" y="1719072"/>
            <a:ext cx="201168" cy="3657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輸血・血液製剤関連の記録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（20年保存等）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2404872"/>
            <a:ext cx="201168" cy="3657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自前で SaMD を製造販売する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薬事プロセス全体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3090672"/>
            <a:ext cx="201168" cy="3657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衛生検査所／ブランチラボの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運営許認可そのもの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3776472"/>
            <a:ext cx="201168" cy="3657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3657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介護・歯科固有要件、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電子カルテ本体の機能要件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663440"/>
            <a:ext cx="8412480" cy="27432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「他は大丈夫か」への回答：ライフサイクルのどの段階か、3省2GL にない新規法令かを特定すればよい。対象外は上記で明示（漏れではなく設計判断）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B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法規制対応ガイド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82880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必須の法規制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26517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法令・省令で課される義務 ／ 10項目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154680"/>
            <a:ext cx="73152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200400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2004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個人情報保護法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3200400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2004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クラウド例外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97280" y="3547872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54787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サイバーセキュリティ確保義務＋3省2GL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3547872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54787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インシデント報告ルート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97280" y="3895344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89534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検体検査の精度確保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3895344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89534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衛生検査所登録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97280" y="4242816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24281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感染症法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4242816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424281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 電子保存の三原則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97280" y="4590288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59028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 記録の法定保存義務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4590288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459028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E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 薬機法（SaMD）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法規制対応ガイド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必須① 個人情報保護法（要配慮個人情報）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検査結果・病理診断・感染症情報はすべて「要配慮個人情報」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530352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170432"/>
            <a:ext cx="5303520" cy="292608"/>
          </a:xfrm>
          <a:prstGeom prst="roundRect">
            <a:avLst>
              <a:gd name="adj" fmla="val 21875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17043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満たすべき要件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517904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利用目的の特定・通知/公表（法17・21条）。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要配慮の取得は原則本人同意（法20条2項）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1993392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安全管理措置（組織的・人的・物理的・技術的）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＋「外的環境の把握」（海外委託先等）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46888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委託先（クラウド事業者）の監督（法25条）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944368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漏えい等報告：要配慮は1件でも個人情報保護委員会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報告（法26条）。速報≒3〜5日、確報30/60日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3419856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第三者提供は原則本人同意（法27条）。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要配慮はオプトアウト不可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895344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 越境移転（法28条）：国内リージョン保持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＋海外アクセス経路・再委託への対応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715000" y="1170432"/>
            <a:ext cx="3154680" cy="2286000"/>
          </a:xfrm>
          <a:prstGeom prst="roundRect">
            <a:avLst>
              <a:gd name="adj" fmla="val 28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15000" y="1170432"/>
            <a:ext cx="3154680" cy="292608"/>
          </a:xfrm>
          <a:prstGeom prst="roundRect">
            <a:avLst>
              <a:gd name="adj" fmla="val 21875"/>
            </a:avLst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117043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技術スタック（AWS）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06440" y="1517904"/>
            <a:ext cx="297180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暗号化：KMS + S3 SSE-KMS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RDS/EBS暗号化、TLS 1.2+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06440" y="1947672"/>
            <a:ext cx="297180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アクセス制御：IAM最小権限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 IAM Identity Center、VPC/PrivateLink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06440" y="2377440"/>
            <a:ext cx="297180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所在把握：Macie（日本語は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カスタム識別子必須）、GuardDuty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806440" y="2807208"/>
            <a:ext cx="297180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証跡：CloudTrail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越境対策：国内リージョン固定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715000" y="3547872"/>
            <a:ext cx="3154680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806440" y="359359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! Macieの日本語制約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3813048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漢字・かな氏名は未検出。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カスタムデータ識別子の自前定義が前提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715000" y="4251960"/>
            <a:ext cx="315468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427024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残リスク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06440" y="446227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運用：漏えい判定・確報・本人通知は人手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契約：外的環境把握、越境時の本人情報提供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法規制対応ガイド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必須② クラウド例外 — 第三者提供・委託の該当性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クラウド化の法的構造を決める最重要論点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8872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個情委FAQ「クラウド例外」：クラウド事業者が (1) 契約上 個人データを取り扱わない旨を定め、(2) 適切なアクセス制御を行っている 場合→「第三者提供（法27条）」にも「委託（法25条）」にも該当しない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4114800" cy="2560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76272"/>
            <a:ext cx="4114800" cy="292608"/>
          </a:xfrm>
          <a:prstGeom prst="roundRect">
            <a:avLst>
              <a:gd name="adj" fmla="val 21875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17627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2要件（両方満たすことが必要）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542032"/>
            <a:ext cx="3840480" cy="960120"/>
          </a:xfrm>
          <a:prstGeom prst="roundRect">
            <a:avLst>
              <a:gd name="adj" fmla="val 476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78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要件1  「取り扱わない」契約条項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834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「個人データを取り扱わない」旨を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契約・SLA に明記すること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593592"/>
            <a:ext cx="3840480" cy="960120"/>
          </a:xfrm>
          <a:prstGeom prst="roundRect">
            <a:avLst>
              <a:gd name="adj" fmla="val 476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301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要件2  適切なアクセス制御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8862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事業者側がデータにアクセスできない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技術的構成（暗号化＋鍵自社管理）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2176272"/>
            <a:ext cx="4297680" cy="1554480"/>
          </a:xfrm>
          <a:prstGeom prst="roundRect">
            <a:avLst>
              <a:gd name="adj" fmla="val 4118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176272"/>
            <a:ext cx="4297680" cy="292608"/>
          </a:xfrm>
          <a:prstGeom prst="roundRect">
            <a:avLst>
              <a:gd name="adj" fmla="val 21875"/>
            </a:avLst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217627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技術スタックで満たす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253288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顧客管理鍵：KMS（CMK）/ CloudHSM で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復号鍵を自社管理 → 事業者は内容に触れられない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63440" y="30175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アクセス遮断：IAM で事業者ロールの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データアクセスを排除、VPC 閉域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3822192"/>
            <a:ext cx="4297680" cy="914400"/>
          </a:xfrm>
          <a:prstGeom prst="roundRect">
            <a:avLst>
              <a:gd name="adj" fmla="val 7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8587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残リスク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40873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契約：「取り扱わない」旨の条項がなければ例外は不成立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4315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受容：事業者がデータに触れる設計では例外を取れず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委託先監督義務（法25条）がフルに残る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法規制対応ガイド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必須③ サイバーセキュリティ確保義務 ＋ 3省2GL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医療法施行規則14条2項（2023年4月施行）／ 厚労省GL第6.0版＋事業者向けGL第2.0版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8595360" cy="384048"/>
          </a:xfrm>
          <a:prstGeom prst="roundRect">
            <a:avLst>
              <a:gd name="adj" fmla="val 1190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70432"/>
            <a:ext cx="8366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3省2ガイドライン：厚労省GL第6.0版（概説/経営管理/企画管理/システム運用の4編）＋ 経産省・総務省「事業者向けGL第2.0版」（令和7年3月28日改定）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45920"/>
            <a:ext cx="45720" cy="68580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CIA＋ISMS 構築・運用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19476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機密性・完全性・可用性のバランスとマネジメント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164592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645920"/>
            <a:ext cx="45720" cy="68580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電磁的記録の三原則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73168" y="19476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真正性・見読性・保存性（企画管理編1.1.2）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42316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423160"/>
            <a:ext cx="45720" cy="68580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2468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責任分界の明文化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" y="27249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SaaS/PaaS/IaaS 類型別の契約・SLA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42316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423160"/>
            <a:ext cx="45720" cy="68580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2468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利用者認証・二要素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73168" y="27249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2027年4月以降の新規/更新システムは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二要素認証が望ましい（努力規定）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20040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200400"/>
            <a:ext cx="45720" cy="68580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3246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監査・保守ログ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4048" y="35021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アクセス記録の時系列証跡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保守は医療機関立会い（運用編10章）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320040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200400"/>
            <a:ext cx="45720" cy="68580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3246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脅威検知・遮断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73168" y="35021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IDS/IPS相当、構成ドリフト自動検知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ゼロトラストアーキテクチャ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4069080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096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 AWS 技術スタック：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431596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真正性：S3 Object Lock（コンプライアンスモード）＋バージョニング　二要素：Cognito MFA / WebAuthn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監査：CloudTrail＋Config＋Object Lock化ログ　脅威検知：GuardDuty＋Network Firewall＋WAF＋Security Hub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法規制対応ガイド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必須④⑤ インシデント報告ルート ＋ 検体検査の精度確保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多重報告ルートの整備 ／ 精度管理記録のトレーサビリティ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420624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143000"/>
            <a:ext cx="4206240" cy="292608"/>
          </a:xfrm>
          <a:prstGeom prst="roundRect">
            <a:avLst>
              <a:gd name="adj" fmla="val 21875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1430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インシデント報告ルート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508760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508760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50876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厚労省 医政局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参事官室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572768" y="150876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サイバー攻撃・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障害時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167128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167128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16712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個人情報保護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委員会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572768" y="216712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要配慮個人情報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漏えい（1件でも）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825496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825496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825496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警察・IPA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572768" y="282549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必要に応じて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35387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ランサムウェア注意：VPN機器・保守回線が主要侵入経路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保守専用アカウント・立会い・作業計画書照合を整備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40965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技術：GuardDuty＋Security Hub（検知）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SSM Session Manager（保守ログ）+ CloudTrail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1143000"/>
            <a:ext cx="420624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143000"/>
            <a:ext cx="4206240" cy="292608"/>
          </a:xfrm>
          <a:prstGeom prst="roundRect">
            <a:avLst>
              <a:gd name="adj" fmla="val 21875"/>
            </a:avLst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11430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検体検査の精度確保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14813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医療法15条の2・施行規則9条の7の2（2018年法制化）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00600" y="1810512"/>
            <a:ext cx="3931920" cy="731520"/>
          </a:xfrm>
          <a:prstGeom prst="roundRect">
            <a:avLst>
              <a:gd name="adj" fmla="val 625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1810512"/>
            <a:ext cx="731520" cy="731520"/>
          </a:xfrm>
          <a:prstGeom prst="roundRect">
            <a:avLst>
              <a:gd name="adj" fmla="val 6250"/>
            </a:avLst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18105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577840" y="181051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精度確保責任者（医師or臨床検査技師）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標準作業書・作業日誌・台帳の整備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0600" y="2633472"/>
            <a:ext cx="3931920" cy="73152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2633472"/>
            <a:ext cx="731520" cy="731520"/>
          </a:xfrm>
          <a:prstGeom prst="roundRect">
            <a:avLst>
              <a:gd name="adj" fmla="val 6250"/>
            </a:avLst>
          </a:prstGeom>
          <a:solidFill>
            <a:srgbClr val="6B7280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263347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努力義務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577840" y="263347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内部精度管理・外部精度管理調査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受検・適切な研修（自院検査）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00600" y="3456432"/>
            <a:ext cx="3931920" cy="73152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3456432"/>
            <a:ext cx="731520" cy="731520"/>
          </a:xfrm>
          <a:prstGeom prst="roundRect">
            <a:avLst>
              <a:gd name="adj" fmla="val 6250"/>
            </a:avLst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45643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LIS機能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577840" y="345643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精度管理記録・SOP・研修記録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トレーサビリティ（試薬ロット・装置校正）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の改ざん防止保持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00600" y="43159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技術：S3 Object Lock（WORM）＋ Glacier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RDS（構造化記録）、CloudTrail（操作証跡）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法規制対応ガイド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必須⑥〜⑩ 残り5規制の要点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衛生検査所・感染症法・電子保存・記録保存・薬機法（SaMD）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85953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188720"/>
            <a:ext cx="411480" cy="658368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188720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12344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衛生検査所の登録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149047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都道府県知事の登録が必要（臨検法20条の3）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技術担保は不可→事業形態の設計で要否判定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60520" y="124358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[受託する場合]  AWS: （技術対応なし）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12480" y="1389888"/>
            <a:ext cx="502920" cy="237744"/>
          </a:xfrm>
          <a:prstGeom prst="roundRect">
            <a:avLst>
              <a:gd name="adj" fmla="val 1538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38988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1920240"/>
            <a:ext cx="85953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1920240"/>
            <a:ext cx="411480" cy="658368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1920240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19659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感染症法（届出・発生動向）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" y="222199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届出対象の判定と届出データ正確な生成・連携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発生動向調査システムとの限定経路接続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60520" y="197510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[細菌・微生物]  AWS: API Gateway＋TLS、PrivateLink/VPN、CloudTrail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412480" y="2121408"/>
            <a:ext cx="502920" cy="237744"/>
          </a:xfrm>
          <a:prstGeom prst="roundRect">
            <a:avLst>
              <a:gd name="adj" fmla="val 15385"/>
            </a:avLst>
          </a:prstGeom>
          <a:solidFill>
            <a:srgbClr val="F5F3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212140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651760"/>
            <a:ext cx="85953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651760"/>
            <a:ext cx="411480" cy="658368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651760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" y="26974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電子保存の三原則・e-文書法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" y="295351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真正性（改ざん防止）・見読性（直ちに表示）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保存性（期間中復元可能な状態で保存）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60520" y="270662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AWS: S3 Object Lock（コンプラ）＋Glacier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PDF/A・FHIR標準フォーマット出力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412480" y="2852928"/>
            <a:ext cx="502920" cy="237744"/>
          </a:xfrm>
          <a:prstGeom prst="roundRect">
            <a:avLst>
              <a:gd name="adj" fmla="val 15385"/>
            </a:avLst>
          </a:prstGeom>
          <a:solidFill>
            <a:srgbClr val="F5F3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285292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3383280"/>
            <a:ext cx="85953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383280"/>
            <a:ext cx="411480" cy="658368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383280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⑨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9808" y="34290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記録の法定保存義務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" y="368503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診療録5年（医師法24条）等、法定期間の確実な保持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外部保存3条件への適合（医政発0329003号）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160520" y="343814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AWS: AWS Backup＋S3ライフサイクル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Glacier/Glacier Deep Archive、国内リージョン限定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412480" y="3584448"/>
            <a:ext cx="502920" cy="237744"/>
          </a:xfrm>
          <a:prstGeom prst="roundRect">
            <a:avLst>
              <a:gd name="adj" fmla="val 1538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358444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4114800"/>
            <a:ext cx="85953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4114800"/>
            <a:ext cx="411480" cy="658368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114800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⑩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49808" y="41605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薬機法（SaMD・プログラム医療機器）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9808" y="441655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通常LISは非該当。診断支援・病理AIを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組み込むとSaMD該当の可能性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QMS・設計管理・市販後安全管理が必要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160520" y="416966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[診断支援を載せる場合]  AWS: SageMaker Model Registry（版管理・変更管理）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SageMaker（該当性・薬事確定が前提）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412480" y="4315968"/>
            <a:ext cx="502920" cy="237744"/>
          </a:xfrm>
          <a:prstGeom prst="roundRect">
            <a:avLst>
              <a:gd name="adj" fmla="val 15385"/>
            </a:avLst>
          </a:prstGeom>
          <a:solidFill>
            <a:srgbClr val="F5F3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0" y="431596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840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法規制対応ガイド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82880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推奨する対応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26517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実質必須 × 推奨 ／ 7項目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154680"/>
            <a:ext cx="3566160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546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ISMS（JIS Q 27001:2023）＋ ISO 27017/27018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566160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1546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プライバシーマーク（JIS Q 15001）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" y="3502152"/>
            <a:ext cx="3566160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021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ISMAP / ISMAP-LIU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3502152"/>
            <a:ext cx="3566160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5021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次世代医療基盤法（仮名加工）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3849624"/>
            <a:ext cx="3566160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496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標準規格（HL7 FHIR JP Core / JLAC11）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3849624"/>
            <a:ext cx="3566160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8496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サイバーセキュリティ経営GL / NIST CSF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" y="4197096"/>
            <a:ext cx="3566160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19709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JAHIS MDS/SDS による開示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法規制対応ガイド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推奨する対応（7項目）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実質必須 ＝ 法的義務ではないが調達で事実上の前提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41148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188720"/>
            <a:ext cx="640080" cy="804672"/>
          </a:xfrm>
          <a:prstGeom prst="roundRect">
            <a:avLst>
              <a:gd name="adj" fmla="val 7143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18872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実質必須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7552" y="122529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ISMS（JIS Q 27001:2023）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 ISO 27017 / 27018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87552" y="160934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側は主要サービスで認証取得済み（AWS Artifact）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Hub でフレームワーク準拠を継続評価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1148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88720"/>
            <a:ext cx="640080" cy="804672"/>
          </a:xfrm>
          <a:prstGeom prst="roundRect">
            <a:avLst>
              <a:gd name="adj" fmla="val 7143"/>
            </a:avLst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18872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実質必須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76672" y="122529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プライバシーマーク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（JIS Q 15001）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76672" y="160934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ISMS と並ぶ選定前提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要配慮個人情報を扱う事業者の信頼の土台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084832"/>
            <a:ext cx="41148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084832"/>
            <a:ext cx="640080" cy="804672"/>
          </a:xfrm>
          <a:prstGeom prst="roundRect">
            <a:avLst>
              <a:gd name="adj" fmla="val 7143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084832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87552" y="212140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ISMAP / ISMAP-LIU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87552" y="250545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公的調達では実質必須ゲート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は要配慮扱うため ISMAP 本体が筋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ISMAP-LIU（低リスク）は該当しにくい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2084832"/>
            <a:ext cx="41148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084832"/>
            <a:ext cx="640080" cy="804672"/>
          </a:xfrm>
          <a:prstGeom prst="roundRect">
            <a:avLst>
              <a:gd name="adj" fmla="val 7143"/>
            </a:avLst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2084832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二次利活用時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76672" y="212140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次世代医療基盤法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（仮名加工医療情報）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76672" y="250545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2024年4月施行の改正法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認定事業者連携を見据えた設計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Glue＋Macie（カスタム識別子）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2980944"/>
            <a:ext cx="41148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980944"/>
            <a:ext cx="640080" cy="804672"/>
          </a:xfrm>
          <a:prstGeom prst="roundRect">
            <a:avLst>
              <a:gd name="adj" fmla="val 7143"/>
            </a:avLst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2980944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87552" y="30175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標準規格対応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HL7 FHIR JP Core / JLAC11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87552" y="34015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電子カルテ情報共有サービス接続の前提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HealthLake は国内非提供→HAPI FHIR on ECS/EKS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2980944"/>
            <a:ext cx="41148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980944"/>
            <a:ext cx="640080" cy="804672"/>
          </a:xfrm>
          <a:prstGeom prst="roundRect">
            <a:avLst>
              <a:gd name="adj" fmla="val 7143"/>
            </a:avLst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2980944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76672" y="30175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サイバーセキュリティ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経営GL / NIST CSF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76672" y="34015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経営層のガバナンスと技術対策を接続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Hub でスコア化・経営報告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3877056"/>
            <a:ext cx="8595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877056"/>
            <a:ext cx="640080" cy="685800"/>
          </a:xfrm>
          <a:prstGeom prst="roundRect">
            <a:avLst>
              <a:gd name="adj" fmla="val 7143"/>
            </a:avLst>
          </a:prstGeom>
          <a:solidFill>
            <a:srgbClr val="D97706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3877056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05840" y="3950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JAHIS MDS/SDS による開示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05840" y="42245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医療情報セキュリティ仕様を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標準フォーマットで病院に開示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責任分界の明文化・選定時の信頼向上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法規制対応ガイド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 × AWSスタック対応表（前半）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21要件カテゴリの原則・AWS実現例・残リスク ／ 1/2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1280160" cy="292608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1887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要件カテゴリ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54480" y="1188720"/>
            <a:ext cx="1645920" cy="292608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11887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満たすべき原則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3108960" cy="292608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実現例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309360" y="1188720"/>
            <a:ext cx="1828800" cy="292608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1887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主な残リスク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481328"/>
            <a:ext cx="12801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4813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保存時暗号化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554480" y="1481328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0200" y="14813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全医療情報を保存時に暗号化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00400" y="1481328"/>
            <a:ext cx="3108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14813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KMS、S3 SSE-KMS、RDS/EBS/Aurora暗号化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309360" y="1481328"/>
            <a:ext cx="1828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4813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運用：鍵運用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1755648"/>
            <a:ext cx="12801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7556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転送時暗号化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554480" y="1755648"/>
            <a:ext cx="16459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17556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通信をすべてTLS化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0" y="1755648"/>
            <a:ext cx="310896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17556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ACM (TLS1.2+)、CloudFront HTTPS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309360" y="1755648"/>
            <a:ext cx="1828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17556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受容：低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029968"/>
            <a:ext cx="12801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0299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鍵管理・ローテ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554480" y="2029968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00200" y="20299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顧客管理鍵・定期ローテ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00400" y="2029968"/>
            <a:ext cx="3108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20299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KMS（自動365日）、CloudHSM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309360" y="2029968"/>
            <a:ext cx="1828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0299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運用：鍵削除権限の分掌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2304288"/>
            <a:ext cx="12801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3042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秘密情報管理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554480" y="2304288"/>
            <a:ext cx="16459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00200" y="23042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認証情報・APIキーを安全に管理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200400" y="2304288"/>
            <a:ext cx="310896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46120" y="23042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Secrets Manager、SSM Parameter Store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309360" y="2304288"/>
            <a:ext cx="1828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2304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運用：ローテ設計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74320" y="2578608"/>
            <a:ext cx="12801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25786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NW分離・閉域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554480" y="2578608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00200" y="25786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医療機関とは閉域、内部最小セグメント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200400" y="2578608"/>
            <a:ext cx="3108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46120" y="2578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VPC、PrivateLink、Direct Connect、VPN、SG/NACL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309360" y="2578608"/>
            <a:ext cx="1828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25786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契約：接続仕様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74320" y="2852928"/>
            <a:ext cx="12801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28529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認証・二要素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554480" y="2852928"/>
            <a:ext cx="16459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600200" y="28529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最小権限＋二要素（2027年4月〜）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200400" y="2852928"/>
            <a:ext cx="310896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46120" y="2852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IAM、IAM Identity Center、Cognito MFA、WebAuthn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309360" y="2852928"/>
            <a:ext cx="1828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55080" y="28529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運用：端末・媒体配布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74320" y="3127248"/>
            <a:ext cx="12801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1272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特権アクセス管理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554480" y="3127248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600200" y="31272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保守は踏み台レス・全操作記録・立会い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3200400" y="3127248"/>
            <a:ext cx="3108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46120" y="31272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SSM Session Manager、IAM一時昇格、CloudTrail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309360" y="3127248"/>
            <a:ext cx="1828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55080" y="31272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運用：立会い・計画書照合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274320" y="3401568"/>
            <a:ext cx="12801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0040" y="34015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監査証跡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1554480" y="3401568"/>
            <a:ext cx="16459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600200" y="34015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誰が・いつ・何を を改ざん不能に記録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3200400" y="3401568"/>
            <a:ext cx="310896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46120" y="34015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CloudTrail、CloudWatch Logs、Config、S3 Object Lock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309360" y="3401568"/>
            <a:ext cx="1828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55080" y="34015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運用：ログレビュー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274320" y="3675888"/>
            <a:ext cx="12801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0040" y="36758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真正性（WORM）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554480" y="3675888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600200" y="36758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確定記録の改変を物理的に不能に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3200400" y="3675888"/>
            <a:ext cx="3108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46120" y="3675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Object Lock コンプライアンスモード、バージョニング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309360" y="3675888"/>
            <a:ext cx="1828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355080" y="36758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受容：モード誤選定で不成立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3950208"/>
            <a:ext cx="12801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0040" y="39502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電子署名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1554480" y="3950208"/>
            <a:ext cx="16459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600200" y="39502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作成責任者の真正性を署名で担保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3200400" y="3950208"/>
            <a:ext cx="310896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46120" y="39502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KMS非対称鍵、AWS Private CA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6309360" y="3950208"/>
            <a:ext cx="1828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355080" y="39502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運用：鍵・証明書運用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274320" y="4224528"/>
            <a:ext cx="12801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20040" y="4224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長期保存・保存性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1554480" y="4224528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600200" y="42245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法定保存期間を確実に保持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3200400" y="4224528"/>
            <a:ext cx="3108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246120" y="4224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Glacier、AWS Backup、クロスリージョン複製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6309360" y="4224528"/>
            <a:ext cx="1828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355080" y="42245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技術：フォーマット陳腐化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7772400" y="4709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つづく →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法規制対応ガイド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 × AWSスタック対応表（後半）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21要件カテゴリの原則・AWS実現例・残リスク ／ 2/2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1280160" cy="292608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1887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要件カテゴリ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54480" y="1188720"/>
            <a:ext cx="1645920" cy="292608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11887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満たすべき原則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3108960" cy="292608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実現例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309360" y="1188720"/>
            <a:ext cx="1828800" cy="292608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1887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主な残リスク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481328"/>
            <a:ext cx="1280160" cy="283464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481328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バックアップ不変性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554480" y="1481328"/>
            <a:ext cx="1645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0200" y="1481328"/>
            <a:ext cx="1554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ランサム時もバックアップを削除不能に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00400" y="1481328"/>
            <a:ext cx="3108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1481328"/>
            <a:ext cx="3017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Backup Vault Lock（コンプライアンス）、論理エアギャップ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309360" y="1481328"/>
            <a:ext cx="1828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481328"/>
            <a:ext cx="1737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受容：未設定で削除リスク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1764792"/>
            <a:ext cx="1280160" cy="283464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764792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可用性・BCP/DR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554480" y="1764792"/>
            <a:ext cx="16459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1764792"/>
            <a:ext cx="1554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災害時も継続・復旧（RPO/RTO設計）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0" y="1764792"/>
            <a:ext cx="31089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1764792"/>
            <a:ext cx="3017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Multi-AZ、リージョン冗長、Route 53 フェイルオーバー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309360" y="1764792"/>
            <a:ext cx="182880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1764792"/>
            <a:ext cx="1737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運用：訓練・体制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048256"/>
            <a:ext cx="1280160" cy="283464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048256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脅威検知（IDS/IPS）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554480" y="2048256"/>
            <a:ext cx="1645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00200" y="2048256"/>
            <a:ext cx="1554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不正通信を検知・遮断し相関分析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00400" y="2048256"/>
            <a:ext cx="3108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2048256"/>
            <a:ext cx="3017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GuardDuty、Network Firewall、WAF、Security Hub、Detective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309360" y="2048256"/>
            <a:ext cx="1828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048256"/>
            <a:ext cx="1737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運用：検知後の対応体制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2331720"/>
            <a:ext cx="1280160" cy="283464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331720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構成ドリフト検知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554480" y="2331720"/>
            <a:ext cx="16459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00200" y="2331720"/>
            <a:ext cx="1554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意図せぬ設定変更を自動検知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200400" y="2331720"/>
            <a:ext cx="31089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46120" y="2331720"/>
            <a:ext cx="3017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Config Rules、CloudFormation ドリフト検知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309360" y="2331720"/>
            <a:ext cx="182880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2331720"/>
            <a:ext cx="1737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運用：是正フロー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74320" y="2615184"/>
            <a:ext cx="1280160" cy="283464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2615184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脆弱性管理・SBOM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554480" y="2615184"/>
            <a:ext cx="1645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00200" y="2615184"/>
            <a:ext cx="1554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CVE継続スキャンとSBOM管理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200400" y="2615184"/>
            <a:ext cx="3108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46120" y="2615184"/>
            <a:ext cx="3017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Inspector（SBOM をCycloneDX/SPDX出力）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309360" y="2615184"/>
            <a:ext cx="1828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2615184"/>
            <a:ext cx="1737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運用：パッチ適用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74320" y="2898648"/>
            <a:ext cx="1280160" cy="283464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2898648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PII検出・分類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554480" y="2898648"/>
            <a:ext cx="16459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600200" y="2898648"/>
            <a:ext cx="1554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要配慮個人情報の所在を把握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200400" y="2898648"/>
            <a:ext cx="31089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46120" y="2898648"/>
            <a:ext cx="3017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Macie＋カスタムデータ識別子（日本語は必須）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309360" y="2898648"/>
            <a:ext cx="182880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55080" y="2898648"/>
            <a:ext cx="1737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技術：日本語は自前定義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74320" y="3182112"/>
            <a:ext cx="1280160" cy="283464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182112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テナント分離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554480" y="3182112"/>
            <a:ext cx="1645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600200" y="3182112"/>
            <a:ext cx="1554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医療機関間のデータを分離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3200400" y="3182112"/>
            <a:ext cx="3108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46120" y="3182112"/>
            <a:ext cx="3017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アカウント分離、Organizations + SCP、row-level分離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309360" y="3182112"/>
            <a:ext cx="1828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55080" y="3182112"/>
            <a:ext cx="1737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技術：分離方針の設計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274320" y="3465576"/>
            <a:ext cx="1280160" cy="283464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0040" y="3465576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データ廃棄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1554480" y="3465576"/>
            <a:ext cx="16459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600200" y="3465576"/>
            <a:ext cx="1554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保存期間満了後に確実に消去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3200400" y="3465576"/>
            <a:ext cx="31089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46120" y="3465576"/>
            <a:ext cx="3017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KMS鍵削除による crypto-shredding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309360" y="3465576"/>
            <a:ext cx="182880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55080" y="3465576"/>
            <a:ext cx="1737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運用：廃棄証跡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274320" y="3749040"/>
            <a:ext cx="1280160" cy="283464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0040" y="3749040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データローカライゼーション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554480" y="3749040"/>
            <a:ext cx="1645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600200" y="3749040"/>
            <a:ext cx="1554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医療データを国内に保存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3200400" y="3749040"/>
            <a:ext cx="3108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46120" y="3749040"/>
            <a:ext cx="3017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 ap-northeast-1、大阪 ap-northeast-3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309360" y="3749040"/>
            <a:ext cx="1828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355080" y="3749040"/>
            <a:ext cx="1737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契約：海外アクセス経路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4032504"/>
            <a:ext cx="1280160" cy="283464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0040" y="4032504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標準API・相互運用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1554480" y="4032504"/>
            <a:ext cx="16459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600200" y="4032504"/>
            <a:ext cx="1554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FHIR・標準形式で入出力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3200400" y="4032504"/>
            <a:ext cx="310896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46120" y="4032504"/>
            <a:ext cx="3017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 Gateway＋HAPI FHIR(ECS/EKS)＋Aurora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（HealthLake国内非提供）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6309360" y="4032504"/>
            <a:ext cx="182880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355080" y="4032504"/>
            <a:ext cx="1737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運用：マッピング保守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274320" y="4261104"/>
            <a:ext cx="8595360" cy="512064"/>
          </a:xfrm>
          <a:prstGeom prst="roundRect">
            <a:avLst>
              <a:gd name="adj" fmla="val 89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11480" y="427939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責任共有モデルで「利用者が担う範囲」：OS・ミドルのパッチ、暗号鍵の運用、IAM設計、ログ監視、構成管理、テナント分離、データの分類・廃棄。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3省2ガイドラインの責任分界は、この境界を契約・SLAに落とし込み、SaaS/PaaS/IaaS類型ごとに利用者範囲を確定して成立する。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法規制対応ガイド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トレーサビリティ表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条項→要件→技術→残リスク ／ 監査・顧客説明での即答索引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914400" cy="27432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" y="118872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法規制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88720" y="1188720"/>
            <a:ext cx="1280160" cy="27432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2" name="Text 10"/>
          <p:cNvSpPr/>
          <p:nvPr/>
        </p:nvSpPr>
        <p:spPr>
          <a:xfrm>
            <a:off x="1225296" y="118872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主な条項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68880" y="1188720"/>
            <a:ext cx="1737360" cy="27432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4" name="Text 12"/>
          <p:cNvSpPr/>
          <p:nvPr/>
        </p:nvSpPr>
        <p:spPr>
          <a:xfrm>
            <a:off x="2505456" y="118872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06240" y="1188720"/>
            <a:ext cx="2103120" cy="27432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6" name="Text 14"/>
          <p:cNvSpPr/>
          <p:nvPr/>
        </p:nvSpPr>
        <p:spPr>
          <a:xfrm>
            <a:off x="4242816" y="118872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主な技術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309360" y="1188720"/>
            <a:ext cx="1828800" cy="27432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8" name="Text 16"/>
          <p:cNvSpPr/>
          <p:nvPr/>
        </p:nvSpPr>
        <p:spPr>
          <a:xfrm>
            <a:off x="6345936" y="118872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残リスク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1463040"/>
            <a:ext cx="914400" cy="199339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1463040"/>
            <a:ext cx="8412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個情法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188720" y="1463040"/>
            <a:ext cx="128016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25296" y="1463040"/>
            <a:ext cx="12070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法23条（安全管理）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468880" y="1463040"/>
            <a:ext cx="173736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05456" y="1463040"/>
            <a:ext cx="16642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暗号化・アクセス制御・PII所在把握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206240" y="1463040"/>
            <a:ext cx="210312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42816" y="1463040"/>
            <a:ext cx="202996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KMS、IAM、Macie、CloudTrail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309360" y="1463040"/>
            <a:ext cx="182880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5936" y="1463040"/>
            <a:ext cx="17556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契約：外的環境把握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74320" y="1662379"/>
            <a:ext cx="914400" cy="199339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1662379"/>
            <a:ext cx="8412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個情法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88720" y="1662379"/>
            <a:ext cx="128016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25296" y="1662379"/>
            <a:ext cx="12070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法26条（漏えい報告）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468880" y="1662379"/>
            <a:ext cx="173736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05456" y="1662379"/>
            <a:ext cx="16642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要配慮1件〜、確報30/60日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206240" y="1662379"/>
            <a:ext cx="210312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42816" y="1662379"/>
            <a:ext cx="202996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GuardDuty、Macie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309360" y="1662379"/>
            <a:ext cx="182880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5936" y="1662379"/>
            <a:ext cx="17556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運用：該当判定・通知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74320" y="1861718"/>
            <a:ext cx="914400" cy="199339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0896" y="1861718"/>
            <a:ext cx="8412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個情法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188720" y="1861718"/>
            <a:ext cx="128016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25296" y="1861718"/>
            <a:ext cx="12070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法27/28条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468880" y="1861718"/>
            <a:ext cx="173736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05456" y="1861718"/>
            <a:ext cx="16642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第三者提供・越境制限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206240" y="1861718"/>
            <a:ext cx="210312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42816" y="1861718"/>
            <a:ext cx="202996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国内リージョン固定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309360" y="1861718"/>
            <a:ext cx="182880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45936" y="1861718"/>
            <a:ext cx="17556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契約：越境同意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74320" y="2061058"/>
            <a:ext cx="914400" cy="199339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" y="2061058"/>
            <a:ext cx="8412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クラウド例外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188720" y="2061058"/>
            <a:ext cx="128016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25296" y="2061058"/>
            <a:ext cx="12070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個情委FAQ（27/25条）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468880" y="2061058"/>
            <a:ext cx="173736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05456" y="2061058"/>
            <a:ext cx="16642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取り扱わない＋アクセス制御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206240" y="2061058"/>
            <a:ext cx="210312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42816" y="2061058"/>
            <a:ext cx="202996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KMS(CMK)、IAM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309360" y="2061058"/>
            <a:ext cx="182880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45936" y="2061058"/>
            <a:ext cx="17556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契約：条項必須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74320" y="2260397"/>
            <a:ext cx="914400" cy="199339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0896" y="2260397"/>
            <a:ext cx="8412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医療法施行規則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188720" y="2260397"/>
            <a:ext cx="128016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225296" y="2260397"/>
            <a:ext cx="12070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14条2項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468880" y="2260397"/>
            <a:ext cx="173736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05456" y="2260397"/>
            <a:ext cx="16642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サイバーセキュリティ確保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206240" y="2260397"/>
            <a:ext cx="210312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42816" y="2260397"/>
            <a:ext cx="202996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GuardDuty、WAF、Config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309360" y="2260397"/>
            <a:ext cx="182880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45936" y="2260397"/>
            <a:ext cx="17556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運用：BCP・報告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274320" y="2459736"/>
            <a:ext cx="914400" cy="199339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0896" y="2459736"/>
            <a:ext cx="8412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3省2GL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1188720" y="2459736"/>
            <a:ext cx="128016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225296" y="2459736"/>
            <a:ext cx="12070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運用編14章⑤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2468880" y="2459736"/>
            <a:ext cx="173736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505456" y="2459736"/>
            <a:ext cx="16642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二要素認証（2027/4）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206240" y="2459736"/>
            <a:ext cx="210312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242816" y="2459736"/>
            <a:ext cx="202996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Cognito MFA、WebAuthn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309360" y="2459736"/>
            <a:ext cx="182880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345936" y="2459736"/>
            <a:ext cx="17556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運用：媒体配布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274320" y="2659075"/>
            <a:ext cx="914400" cy="199339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10896" y="2659075"/>
            <a:ext cx="8412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3省2GL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1188720" y="2659075"/>
            <a:ext cx="128016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225296" y="2659075"/>
            <a:ext cx="12070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企画管理編1.1.2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2468880" y="2659075"/>
            <a:ext cx="173736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505456" y="2659075"/>
            <a:ext cx="16642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真正性（電磁的記録）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4206240" y="2659075"/>
            <a:ext cx="210312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242816" y="2659075"/>
            <a:ext cx="202996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Object Lock（コンプラ）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6309360" y="2659075"/>
            <a:ext cx="182880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345936" y="2659075"/>
            <a:ext cx="17556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運用：承認フロー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274320" y="2858414"/>
            <a:ext cx="914400" cy="199339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10896" y="2858414"/>
            <a:ext cx="8412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3省2GL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1188720" y="2858414"/>
            <a:ext cx="128016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225296" y="2858414"/>
            <a:ext cx="12070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運用編10章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2468880" y="2858414"/>
            <a:ext cx="173736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505456" y="2858414"/>
            <a:ext cx="16642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保守作業ログ・立会い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4206240" y="2858414"/>
            <a:ext cx="210312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242816" y="2858414"/>
            <a:ext cx="202996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SSM Session Manager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6309360" y="2858414"/>
            <a:ext cx="182880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345936" y="2858414"/>
            <a:ext cx="17556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運用：立会い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274320" y="3057754"/>
            <a:ext cx="914400" cy="199339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10896" y="3057754"/>
            <a:ext cx="8412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検体検査精度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1188720" y="3057754"/>
            <a:ext cx="128016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225296" y="3057754"/>
            <a:ext cx="12070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医療法15条の2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2468880" y="3057754"/>
            <a:ext cx="173736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505456" y="3057754"/>
            <a:ext cx="16642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精度管理記録・トレーサビリティ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4206240" y="3057754"/>
            <a:ext cx="210312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242816" y="3057754"/>
            <a:ext cx="202996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Object Lock、RDS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6309360" y="3057754"/>
            <a:ext cx="182880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345936" y="3057754"/>
            <a:ext cx="17556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運用：責任者選任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274320" y="3257093"/>
            <a:ext cx="914400" cy="199339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10896" y="3257093"/>
            <a:ext cx="8412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臨検法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1188720" y="3257093"/>
            <a:ext cx="128016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225296" y="3257093"/>
            <a:ext cx="12070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20条の3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2468880" y="3257093"/>
            <a:ext cx="173736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505456" y="3257093"/>
            <a:ext cx="16642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衛生検査所登録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4206240" y="3257093"/>
            <a:ext cx="210312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242816" y="3257093"/>
            <a:ext cx="202996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6309360" y="3257093"/>
            <a:ext cx="182880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345936" y="3257093"/>
            <a:ext cx="17556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契約：許認可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274320" y="3456432"/>
            <a:ext cx="914400" cy="199339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10896" y="3456432"/>
            <a:ext cx="8412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感染症法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1188720" y="3456432"/>
            <a:ext cx="128016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225296" y="3456432"/>
            <a:ext cx="12070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12条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2468880" y="3456432"/>
            <a:ext cx="173736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505456" y="3456432"/>
            <a:ext cx="16642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届出データ連携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4206240" y="3456432"/>
            <a:ext cx="210312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242816" y="3456432"/>
            <a:ext cx="202996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 Gateway、CloudTrail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6309360" y="3456432"/>
            <a:ext cx="182880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345936" y="3456432"/>
            <a:ext cx="17556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運用：届出は医師責任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274320" y="3655771"/>
            <a:ext cx="914400" cy="199339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10896" y="3655771"/>
            <a:ext cx="8412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e-文書法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1188720" y="3655771"/>
            <a:ext cx="128016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225296" y="3655771"/>
            <a:ext cx="12070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医政発0329003号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2468880" y="3655771"/>
            <a:ext cx="173736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505456" y="3655771"/>
            <a:ext cx="16642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真正性・見読性・保存性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4206240" y="3655771"/>
            <a:ext cx="210312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242816" y="3655771"/>
            <a:ext cx="202996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Object Lock、Glacier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6309360" y="3655771"/>
            <a:ext cx="182880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345936" y="3655771"/>
            <a:ext cx="17556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技術：陳腐化対策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274320" y="3855110"/>
            <a:ext cx="914400" cy="199339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10896" y="3855110"/>
            <a:ext cx="8412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記録保存義務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1188720" y="3855110"/>
            <a:ext cx="128016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225296" y="3855110"/>
            <a:ext cx="12070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医師法24条ほか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2468880" y="3855110"/>
            <a:ext cx="173736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505456" y="3855110"/>
            <a:ext cx="16642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法定期間の保持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4206240" y="3855110"/>
            <a:ext cx="210312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242816" y="3855110"/>
            <a:ext cx="202996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Backup、ライフサイクル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6309360" y="3855110"/>
            <a:ext cx="182880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345936" y="3855110"/>
            <a:ext cx="17556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契約：外部保存能力確認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274320" y="4054450"/>
            <a:ext cx="914400" cy="199339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310896" y="4054450"/>
            <a:ext cx="8412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薬機法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1188720" y="4054450"/>
            <a:ext cx="128016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225296" y="4054450"/>
            <a:ext cx="12070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SaMDガイドライン(R3)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2468880" y="4054450"/>
            <a:ext cx="173736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505456" y="4054450"/>
            <a:ext cx="16642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該当機能のQMS・薬事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4206240" y="4054450"/>
            <a:ext cx="210312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4242816" y="4054450"/>
            <a:ext cx="202996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SageMaker Model Registry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6309360" y="4054450"/>
            <a:ext cx="182880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345936" y="4054450"/>
            <a:ext cx="17556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運用：該当性判定が先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274320" y="4253789"/>
            <a:ext cx="914400" cy="199339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10896" y="4253789"/>
            <a:ext cx="8412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次世代医療基盤法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1188720" y="4253789"/>
            <a:ext cx="128016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1225296" y="4253789"/>
            <a:ext cx="12070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33/41/57条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2468880" y="4253789"/>
            <a:ext cx="173736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505456" y="4253789"/>
            <a:ext cx="16642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仮名加工の二次利活用</a:t>
            </a:r>
            <a:endParaRPr lang="en-US" sz="700" dirty="0"/>
          </a:p>
        </p:txBody>
      </p:sp>
      <p:sp>
        <p:nvSpPr>
          <p:cNvPr id="165" name="Shape 163"/>
          <p:cNvSpPr/>
          <p:nvPr/>
        </p:nvSpPr>
        <p:spPr>
          <a:xfrm>
            <a:off x="4206240" y="4253789"/>
            <a:ext cx="210312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4242816" y="4253789"/>
            <a:ext cx="202996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Glue、Macie、Org+SCP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6309360" y="4253789"/>
            <a:ext cx="1828800" cy="19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6345936" y="4253789"/>
            <a:ext cx="17556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契約：認定が必要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274320" y="4453128"/>
            <a:ext cx="914400" cy="199339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310896" y="4453128"/>
            <a:ext cx="8412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ISMS/Pマーク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1188720" y="4453128"/>
            <a:ext cx="128016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1225296" y="4453128"/>
            <a:ext cx="12070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JIS Q 27001/15001</a:t>
            </a:r>
            <a:endParaRPr lang="en-US" sz="700" dirty="0"/>
          </a:p>
        </p:txBody>
      </p:sp>
      <p:sp>
        <p:nvSpPr>
          <p:cNvPr id="173" name="Shape 171"/>
          <p:cNvSpPr/>
          <p:nvPr/>
        </p:nvSpPr>
        <p:spPr>
          <a:xfrm>
            <a:off x="2468880" y="4453128"/>
            <a:ext cx="173736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505456" y="4453128"/>
            <a:ext cx="166420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選定前提の認証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4206240" y="4453128"/>
            <a:ext cx="210312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4242816" y="4453128"/>
            <a:ext cx="202996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Artifact、Security Hub</a:t>
            </a:r>
            <a:endParaRPr lang="en-US" sz="700" dirty="0"/>
          </a:p>
        </p:txBody>
      </p:sp>
      <p:sp>
        <p:nvSpPr>
          <p:cNvPr id="177" name="Shape 175"/>
          <p:cNvSpPr/>
          <p:nvPr/>
        </p:nvSpPr>
        <p:spPr>
          <a:xfrm>
            <a:off x="6309360" y="4453128"/>
            <a:ext cx="1828800" cy="19933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6345936" y="4453128"/>
            <a:ext cx="17556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運用：自社認証取得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法規制対応ガイド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リファレンス構成図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法規制要件を満たす多層アーキテクチャ ／ 国内リージョン（東京/大阪）閉域構成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8595360" cy="566928"/>
          </a:xfrm>
          <a:prstGeom prst="roundRect">
            <a:avLst>
              <a:gd name="adj" fmla="val 9677"/>
            </a:avLst>
          </a:prstGeom>
          <a:solidFill>
            <a:srgbClr val="EEF2F7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65760" y="1115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医療機関（オンプレミス）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371600"/>
            <a:ext cx="2468880" cy="27432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検査室端末  二要素認証で接続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08960" y="1371600"/>
            <a:ext cx="2468880" cy="27432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分析装置  検査結果・精度管理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852160" y="1371600"/>
            <a:ext cx="2468880" cy="27432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電子カルテ  FHIR / JLAC11連携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1719072"/>
            <a:ext cx="85953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7190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閉域接続：Direct Connect / Site-to-Site VPN ＋ PrivateLink（インターネット非経由）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011680"/>
            <a:ext cx="8595360" cy="2761488"/>
          </a:xfrm>
          <a:prstGeom prst="roundRect">
            <a:avLst>
              <a:gd name="adj" fmla="val 2318"/>
            </a:avLst>
          </a:prstGeom>
          <a:solidFill>
            <a:srgbClr val="FBFCFE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011680"/>
            <a:ext cx="8595360" cy="237744"/>
          </a:xfrm>
          <a:prstGeom prst="roundRect">
            <a:avLst>
              <a:gd name="adj" fmla="val 15385"/>
            </a:avLst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0116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クラウド（東京：ap-northeast-1  ／  大阪：ap-northeast-3 DR）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22677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入口・認証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47472" y="2267712"/>
            <a:ext cx="4078224" cy="4572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2267712"/>
            <a:ext cx="3986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Route 53 + WAF + ALB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93192" y="2496312"/>
            <a:ext cx="398678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不正通信の検知・遮断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498848" y="2267712"/>
            <a:ext cx="4078224" cy="4572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44568" y="2267712"/>
            <a:ext cx="3986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Cognito / IAM Identity Center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44568" y="2496312"/>
            <a:ext cx="398678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二要素認証（MFA/WebAuthn）2027/4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47472" y="27706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アプリ層（Private Subnet）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47472" y="2770632"/>
            <a:ext cx="2694432" cy="4572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2770632"/>
            <a:ext cx="2602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ECS/EKS：LISアプリ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93192" y="2999232"/>
            <a:ext cx="260299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検査・細菌・病理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115056" y="2770632"/>
            <a:ext cx="2694432" cy="4572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60776" y="2770632"/>
            <a:ext cx="2602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HAPI FHIR サーバ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160776" y="2999232"/>
            <a:ext cx="260299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標準API（HealthLake国内非提供のため自前）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882640" y="2770632"/>
            <a:ext cx="2694432" cy="4572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28360" y="2770632"/>
            <a:ext cx="2602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SSM Session Manager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928360" y="2999232"/>
            <a:ext cx="260299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踏み台レス保守・全操作ログ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347472" y="32735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データ層（暗号化・WORM）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47472" y="3273552"/>
            <a:ext cx="2694432" cy="4572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3273552"/>
            <a:ext cx="2602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Aurora（暗号化）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93192" y="3502152"/>
            <a:ext cx="260299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検査結果・精度管理記録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115056" y="3273552"/>
            <a:ext cx="2694432" cy="4572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60776" y="3273552"/>
            <a:ext cx="2602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Object Lock（コンプラ）+Glacier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160776" y="3502152"/>
            <a:ext cx="260299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確定記録の改ざん不能・長期保存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5882640" y="3273552"/>
            <a:ext cx="2694432" cy="4572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28360" y="3273552"/>
            <a:ext cx="2602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KMS（CMK）/ CloudHSM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928360" y="3502152"/>
            <a:ext cx="260299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顧客管理鍵＝クラウド例外・廃棄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347472" y="37764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監視・ガバナンス層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47472" y="3776472"/>
            <a:ext cx="2002536" cy="4572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3192" y="3776472"/>
            <a:ext cx="1911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CloudTrail / Config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93192" y="4005072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操作証跡・構成変更検知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2423160" y="3776472"/>
            <a:ext cx="2002536" cy="4572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68880" y="3776472"/>
            <a:ext cx="1911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GuardDuty / Security Hub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468880" y="4005072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脅威検知・相関分析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4498848" y="3776472"/>
            <a:ext cx="2002536" cy="4572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44568" y="3776472"/>
            <a:ext cx="1911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Macie + カスタム識別子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544568" y="4005072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要配慮PII所在把握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6574536" y="3776472"/>
            <a:ext cx="2002536" cy="4572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0256" y="3776472"/>
            <a:ext cx="1911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Inspector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620256" y="4005072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脆弱性スキャン・SBOM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347472" y="42976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バックアップ・BCP/DR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47472" y="4297680"/>
            <a:ext cx="4078224" cy="4572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93192" y="4297680"/>
            <a:ext cx="3986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Backup + Vault Lock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93192" y="4526280"/>
            <a:ext cx="398678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削除不能BK（ランサム対策）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4498848" y="4297680"/>
            <a:ext cx="4078224" cy="4572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44568" y="4297680"/>
            <a:ext cx="3986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大阪リージョン クロスリージョン複製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4544568" y="4526280"/>
            <a:ext cx="398678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災害時の事業継続（RPO/RTO）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法規制対応ガイド — 社内勉強会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8412480" cy="694944"/>
          </a:xfrm>
          <a:prstGeom prst="roundRect">
            <a:avLst>
              <a:gd name="adj" fmla="val 6579"/>
            </a:avLst>
          </a:prstGeom>
          <a:solidFill>
            <a:srgbClr val="17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868680"/>
            <a:ext cx="457200" cy="694944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68680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90525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5段分解フレームワーク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15214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条項→要件→技術→担保理由→残リスク で構造的に整理。「他は？」に対し2軸（データライフサイクル×法体系）で回答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655064"/>
            <a:ext cx="8412480" cy="694944"/>
          </a:xfrm>
          <a:prstGeom prst="roundRect">
            <a:avLst>
              <a:gd name="adj" fmla="val 6579"/>
            </a:avLst>
          </a:prstGeom>
          <a:solidFill>
            <a:srgbClr val="17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655064"/>
            <a:ext cx="457200" cy="694944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655064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必須10項目の核心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193852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個情法の要配慮・クラウド例外・サイバーセキュリティ確保義務の3つが最重要。KMS顧客管理鍵がクラウド例外の技術要件を直接満たす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441448"/>
            <a:ext cx="8412480" cy="694944"/>
          </a:xfrm>
          <a:prstGeom prst="roundRect">
            <a:avLst>
              <a:gd name="adj" fmla="val 6579"/>
            </a:avLst>
          </a:prstGeom>
          <a:solidFill>
            <a:srgbClr val="17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441448"/>
            <a:ext cx="457200" cy="694944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441448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47802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推奨7項目は選定前提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27249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ISMS・Pマークは実質必須。公的調達ではISMAP。FHIR/JLAC11は電子カルテ情報共有サービス接続の前提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27832"/>
            <a:ext cx="8412480" cy="694944"/>
          </a:xfrm>
          <a:prstGeom prst="roundRect">
            <a:avLst>
              <a:gd name="adj" fmla="val 6579"/>
            </a:avLst>
          </a:prstGeom>
          <a:solidFill>
            <a:srgbClr val="17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227832"/>
            <a:ext cx="457200" cy="694944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227832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326440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残リスクの引き取り先を明示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351129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技術・運用・契約・受容の4分類。「技術では代替できない」部分（本人通知・責任者選任・契約条項）を見落とさない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4014216"/>
            <a:ext cx="8412480" cy="694944"/>
          </a:xfrm>
          <a:prstGeom prst="roundRect">
            <a:avLst>
              <a:gd name="adj" fmla="val 6579"/>
            </a:avLst>
          </a:prstGeom>
          <a:solidFill>
            <a:srgbClr val="17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014216"/>
            <a:ext cx="457200" cy="694944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014216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405079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AWS構成の鍵は多層防御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429768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F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閉域接続→KMS暗号化→Object Lock（WORM）→GuardDuty系→Backup Vault Lock の多層。Object Lockはコンプライアンスモード一択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 &amp; 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2026-05-23T23:32:23Z</dcterms:created>
  <dcterms:modified xsi:type="dcterms:W3CDTF">2026-05-23T23:32:23Z</dcterms:modified>
</cp:coreProperties>
</file>